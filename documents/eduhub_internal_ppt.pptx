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65" r:id="rId7"/>
    <p:sldId id="266" r:id="rId8"/>
    <p:sldId id="267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011680"/>
            <a:ext cx="892939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5600" b="1">
                <a:solidFill>
                  <a:srgbClr val="F8F6F0"/>
                </a:solidFill>
                <a:latin typeface="Georgia"/>
              </a:defRPr>
            </a:pPr>
            <a:r>
              <a:rPr sz="4400" dirty="0"/>
              <a:t>EduHub </a:t>
            </a:r>
            <a:r>
              <a:rPr lang="en-US" sz="4400" dirty="0"/>
              <a:t>– </a:t>
            </a:r>
            <a:r>
              <a:rPr lang="en-US" sz="3200" dirty="0"/>
              <a:t>A </a:t>
            </a:r>
            <a:r>
              <a:rPr lang="en-IN" sz="3200" dirty="0"/>
              <a:t>Multi-Institute Course Management Platform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989047" y="3565387"/>
            <a:ext cx="3657600" cy="38100"/>
          </a:xfrm>
          <a:prstGeom prst="rect">
            <a:avLst/>
          </a:prstGeom>
          <a:solidFill>
            <a:srgbClr val="C27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898566"/>
            <a:ext cx="2884123" cy="543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E0D9"/>
                </a:solidFill>
                <a:latin typeface="Arial"/>
              </a:defRPr>
            </a:pPr>
            <a:r>
              <a:rPr dirty="0"/>
              <a:t>Project Implementation </a:t>
            </a:r>
            <a:r>
              <a:rPr lang="en-US" dirty="0"/>
              <a:t>PGCP-AC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6C757D"/>
                </a:solidFill>
                <a:latin typeface="Arial"/>
              </a:defRPr>
            </a:pPr>
            <a:r>
              <a:rPr dirty="0"/>
              <a:t>Present</a:t>
            </a:r>
            <a:r>
              <a:rPr lang="en-US" dirty="0"/>
              <a:t>er : Group 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Georgia"/>
              </a:defRPr>
            </a:pPr>
            <a:r>
              <a:rPr dirty="0"/>
              <a:t>1. Project Overview: Bridging the Educational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25400"/>
          </a:xfrm>
          <a:prstGeom prst="rect">
            <a:avLst/>
          </a:prstGeom>
          <a:solidFill>
            <a:srgbClr val="DC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dirty="0"/>
              <a:t>Introducing EduHub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Centralized Portal: </a:t>
            </a:r>
            <a:r>
              <a:rPr sz="1400" dirty="0">
                <a:solidFill>
                  <a:srgbClr val="1A242B"/>
                </a:solidFill>
                <a:latin typeface="Arial"/>
              </a:rPr>
              <a:t>EduHub is designed to streamline course delivery, academic administration, and enrollment processes under a single Web-based platform.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Role-Based Security: </a:t>
            </a:r>
            <a:r>
              <a:rPr sz="1400" dirty="0">
                <a:solidFill>
                  <a:srgbClr val="1A242B"/>
                </a:solidFill>
                <a:latin typeface="Arial"/>
              </a:rPr>
              <a:t>Provides distinct, role-based workflows for students, institutes, and global administrators to maintain accountability and security.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Process Automation: </a:t>
            </a:r>
            <a:r>
              <a:rPr lang="en-US" sz="1400" dirty="0">
                <a:solidFill>
                  <a:srgbClr val="1A242B"/>
                </a:solidFill>
                <a:latin typeface="Arial"/>
              </a:rPr>
              <a:t>S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implifies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registrations, approvals, payments, enrolments, and course management.</a:t>
            </a:r>
            <a:endParaRPr sz="1400" dirty="0">
              <a:solidFill>
                <a:srgbClr val="1A24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366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dirty="0"/>
              <a:t>Key Objectives &amp; Value Proposition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1A242B"/>
                </a:solidFill>
                <a:latin typeface="Arial"/>
              </a:rPr>
              <a:t>Enhanced</a:t>
            </a:r>
            <a:r>
              <a:rPr sz="1400" b="1" dirty="0">
                <a:solidFill>
                  <a:srgbClr val="1A242B"/>
                </a:solidFill>
                <a:latin typeface="Arial"/>
              </a:rPr>
              <a:t> Accessibility: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Students can discover, enroll in, and access courses anytime.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1A242B"/>
                </a:solidFill>
                <a:latin typeface="Arial"/>
              </a:rPr>
              <a:t>Scalable Platform</a:t>
            </a:r>
            <a:r>
              <a:rPr sz="1400" b="1" dirty="0">
                <a:solidFill>
                  <a:srgbClr val="1A242B"/>
                </a:solidFill>
                <a:latin typeface="Arial"/>
              </a:rPr>
              <a:t>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Supports multiple institutes with independent course and student management.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Trust &amp; Transparency: </a:t>
            </a:r>
            <a:r>
              <a:rPr sz="1400" dirty="0">
                <a:solidFill>
                  <a:srgbClr val="1A242B"/>
                </a:solidFill>
                <a:latin typeface="Arial"/>
              </a:rPr>
              <a:t>Creates a trustworthy ecosystem via a robust admin audit trail where registrations, content uploads, and transactions are strictly monitored.</a:t>
            </a:r>
            <a:endParaRPr lang="en-US" sz="1400" dirty="0">
              <a:solidFill>
                <a:srgbClr val="1A242B"/>
              </a:solidFill>
              <a:latin typeface="Arial"/>
            </a:endParaRP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IN" sz="1400" b="1" dirty="0">
                <a:solidFill>
                  <a:srgbClr val="1A242B"/>
                </a:solidFill>
                <a:latin typeface="Arial"/>
              </a:rPr>
              <a:t>Modern Architecture: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Developed using React, Spring Boot/.NET APIs, JWT Authentication, Gen-AI and Microservices.</a:t>
            </a:r>
            <a:endParaRPr sz="1400" dirty="0">
              <a:solidFill>
                <a:srgbClr val="1A24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Georgia"/>
              </a:defRPr>
            </a:pPr>
            <a:r>
              <a:rPr dirty="0"/>
              <a:t>2. Users &amp; Use Cases: The Student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25400"/>
          </a:xfrm>
          <a:prstGeom prst="rect">
            <a:avLst/>
          </a:prstGeom>
          <a:solidFill>
            <a:srgbClr val="DC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98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8746" y="1900614"/>
            <a:ext cx="466344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lang="en-US" dirty="0"/>
              <a:t>Users with details</a:t>
            </a:r>
            <a:endParaRPr dirty="0"/>
          </a:p>
          <a:p>
            <a:pPr lvl="0"/>
            <a:r>
              <a:rPr lang="en-US" sz="1400" b="1" dirty="0">
                <a:solidFill>
                  <a:srgbClr val="1A242B"/>
                </a:solidFill>
                <a:latin typeface="Arial"/>
              </a:rPr>
              <a:t>Student</a:t>
            </a:r>
            <a:r>
              <a:rPr sz="1400" b="1" dirty="0">
                <a:solidFill>
                  <a:srgbClr val="1A242B"/>
                </a:solidFill>
                <a:latin typeface="Arial"/>
              </a:rPr>
              <a:t>: </a:t>
            </a:r>
            <a:endParaRPr lang="en-US" sz="1400" b="1" dirty="0">
              <a:solidFill>
                <a:srgbClr val="1A242B"/>
              </a:solidFill>
              <a:latin typeface="Arial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Register/Login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Browse &amp; search courses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Enroll and make payments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Access learning materials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Track progress &amp; submit reviews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400" b="1" dirty="0">
                <a:solidFill>
                  <a:srgbClr val="1A242B"/>
                </a:solidFill>
                <a:latin typeface="Arial"/>
              </a:rPr>
              <a:t>Institute</a:t>
            </a:r>
            <a:r>
              <a:rPr sz="1400" b="1" dirty="0">
                <a:solidFill>
                  <a:srgbClr val="1A242B"/>
                </a:solidFill>
                <a:latin typeface="Arial"/>
              </a:rPr>
              <a:t>: </a:t>
            </a:r>
            <a:endParaRPr lang="en-US" sz="1400" b="1" dirty="0">
              <a:solidFill>
                <a:srgbClr val="1A242B"/>
              </a:solidFill>
              <a:latin typeface="Arial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Register for approval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Create &amp; manage courses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Monitor enrolled students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View revenue</a:t>
            </a:r>
          </a:p>
          <a:p>
            <a:pPr lvl="0"/>
            <a:r>
              <a:rPr lang="en-US" sz="1400" b="1" dirty="0">
                <a:solidFill>
                  <a:srgbClr val="1A242B"/>
                </a:solidFill>
                <a:latin typeface="Arial"/>
              </a:rPr>
              <a:t>Admin</a:t>
            </a:r>
            <a:r>
              <a:rPr sz="1400" b="1" dirty="0">
                <a:solidFill>
                  <a:srgbClr val="1A242B"/>
                </a:solidFill>
                <a:latin typeface="Arial"/>
              </a:rPr>
              <a:t>: </a:t>
            </a:r>
            <a:endParaRPr lang="en-US" sz="1400" b="1" dirty="0">
              <a:solidFill>
                <a:srgbClr val="1A242B"/>
              </a:solidFill>
              <a:latin typeface="Arial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Approve institutes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Manage students &amp; courses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Monitor enrollments &amp; payments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Earn commission on floating percent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endParaRPr sz="1400" dirty="0">
              <a:solidFill>
                <a:srgbClr val="1A242B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19"/>
            <a:ext cx="5120640" cy="50814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FDEE6D-16A5-8DB8-828B-9DD5C4D6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68" y="1678794"/>
            <a:ext cx="2845836" cy="49739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Georgia"/>
              </a:defRPr>
            </a:pPr>
            <a:r>
              <a:rPr dirty="0"/>
              <a:t>3. Project Architecture: Scalable Multi-Tier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25400"/>
          </a:xfrm>
          <a:prstGeom prst="rect">
            <a:avLst/>
          </a:prstGeom>
          <a:solidFill>
            <a:srgbClr val="DC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35777"/>
            <a:ext cx="46634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dirty="0"/>
              <a:t>System Layers &amp; Structuring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Presentation Layer (Frontend): </a:t>
            </a:r>
            <a:r>
              <a:rPr sz="1400" dirty="0">
                <a:solidFill>
                  <a:srgbClr val="1A242B"/>
                </a:solidFill>
                <a:latin typeface="Arial"/>
              </a:rPr>
              <a:t>A responsive, single-page UI built for fast loading and </a:t>
            </a:r>
            <a:r>
              <a:rPr lang="en-US" sz="1400" dirty="0">
                <a:solidFill>
                  <a:srgbClr val="1A242B"/>
                </a:solidFill>
                <a:latin typeface="Arial"/>
              </a:rPr>
              <a:t>dynamic</a:t>
            </a:r>
            <a:r>
              <a:rPr sz="1400" dirty="0">
                <a:solidFill>
                  <a:srgbClr val="1A242B"/>
                </a:solidFill>
                <a:latin typeface="Arial"/>
              </a:rPr>
              <a:t> navigation across desktops and mobile devices.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Application Layer (Backend API): </a:t>
            </a:r>
            <a:r>
              <a:rPr sz="1400" dirty="0">
                <a:solidFill>
                  <a:srgbClr val="1A242B"/>
                </a:solidFill>
                <a:latin typeface="Arial"/>
              </a:rPr>
              <a:t>Secure API endpoints managing business rules, payment gateways, and role verification tokens.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Data Storage Layer (Database): </a:t>
            </a:r>
            <a:r>
              <a:rPr sz="1400" dirty="0">
                <a:solidFill>
                  <a:srgbClr val="1A242B"/>
                </a:solidFill>
                <a:latin typeface="Arial"/>
              </a:rPr>
              <a:t>Relational databases storing structured user profiles, courses, transactions, and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383390" cy="48227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4C5C2E-CB5B-96F2-273B-36FE027B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17151" y="2265784"/>
            <a:ext cx="4807787" cy="3763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Georgia"/>
              </a:defRPr>
            </a:pPr>
            <a:r>
              <a:rPr lang="en-US" dirty="0"/>
              <a:t>4</a:t>
            </a:r>
            <a:r>
              <a:rPr dirty="0"/>
              <a:t>. Project Methodology: Iterative Agile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25400"/>
          </a:xfrm>
          <a:prstGeom prst="rect">
            <a:avLst/>
          </a:prstGeom>
          <a:solidFill>
            <a:srgbClr val="DC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918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26080" cy="37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2781F"/>
                </a:solidFill>
                <a:latin typeface="Arial"/>
              </a:defRPr>
            </a:pPr>
            <a:r>
              <a:rPr dirty="0"/>
              <a:t>PLAN &amp; DESIGN</a:t>
            </a:r>
          </a:p>
          <a:p>
            <a:pPr>
              <a:spcAft>
                <a:spcPts val="1200"/>
              </a:spcAft>
              <a:defRPr sz="1800" b="1">
                <a:solidFill>
                  <a:srgbClr val="1A242B"/>
                </a:solidFill>
                <a:latin typeface="Georgia"/>
              </a:defRPr>
            </a:pPr>
            <a:r>
              <a:rPr dirty="0"/>
              <a:t>Phase 1: </a:t>
            </a:r>
            <a:r>
              <a:rPr lang="en-IN" b="1" dirty="0"/>
              <a:t>Planning &amp; Design</a:t>
            </a: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Requirement Gathering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System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Use Case Identification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Database Design (ER Model)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Georgia" panose="02040502050405020303" pitchFamily="18" charset="0"/>
              </a:rPr>
              <a:t>Deliverables:</a:t>
            </a:r>
          </a:p>
          <a:p>
            <a:endParaRPr lang="en-IN" sz="1600" b="1" dirty="0">
              <a:latin typeface="Georgia" panose="02040502050405020303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Software Requirement Specification (SRS)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Database Schema</a:t>
            </a:r>
          </a:p>
          <a:p>
            <a:endParaRPr lang="en-IN" sz="14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514842" cy="4328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3070704" cy="387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2781F"/>
                </a:solidFill>
                <a:latin typeface="Arial"/>
              </a:defRPr>
            </a:pPr>
            <a:r>
              <a:rPr dirty="0"/>
              <a:t>INCREMENTAL BUILD</a:t>
            </a:r>
          </a:p>
          <a:p>
            <a:pPr>
              <a:spcAft>
                <a:spcPts val="1200"/>
              </a:spcAft>
              <a:defRPr sz="1800" b="1">
                <a:solidFill>
                  <a:srgbClr val="1A242B"/>
                </a:solidFill>
                <a:latin typeface="Georgia"/>
              </a:defRPr>
            </a:pPr>
            <a:r>
              <a:rPr dirty="0"/>
              <a:t>Phase 2: </a:t>
            </a:r>
            <a:r>
              <a:rPr lang="en-IN" b="1" dirty="0"/>
              <a:t>Development &amp; Integration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React JS Frontend Development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Spring Boot REST APIs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JWT Authentication &amp; Authorization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Database Integration (MySQL)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API Integration &amp; Business Logic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AI Course Recommendations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Georgia" panose="02040502050405020303" pitchFamily="18" charset="0"/>
              </a:rPr>
              <a:t>Deliverables:</a:t>
            </a:r>
          </a:p>
          <a:p>
            <a:endParaRPr lang="en-IN" sz="1400" b="1" dirty="0">
              <a:latin typeface="Georgia" panose="02040502050405020303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Functional Modules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Secure REST APIs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Responsive User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645920"/>
            <a:ext cx="3108960" cy="37240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847461"/>
            <a:ext cx="2926080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2781F"/>
                </a:solidFill>
                <a:latin typeface="Arial"/>
              </a:defRPr>
            </a:pPr>
            <a:r>
              <a:rPr dirty="0"/>
              <a:t>POLISH &amp; INTEGRATE</a:t>
            </a:r>
          </a:p>
          <a:p>
            <a:pPr>
              <a:spcAft>
                <a:spcPts val="1200"/>
              </a:spcAft>
              <a:defRPr sz="1800" b="1">
                <a:solidFill>
                  <a:srgbClr val="1A242B"/>
                </a:solidFill>
                <a:latin typeface="Georgia"/>
              </a:defRPr>
            </a:pPr>
            <a:r>
              <a:rPr dirty="0"/>
              <a:t>Phase 3: </a:t>
            </a:r>
            <a:r>
              <a:rPr lang="en-IN" b="1" dirty="0"/>
              <a:t>Testing &amp; Deployment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Unit Testing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Integration Testing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System Testing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Bug Fixing &amp; Optimization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Georgia" panose="02040502050405020303" pitchFamily="18" charset="0"/>
              </a:rPr>
              <a:t>Deliverables: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Stable Application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Tested Features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Deployment-ready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07516"/>
            <a:ext cx="108173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Georgia"/>
              </a:defRPr>
            </a:pPr>
            <a:r>
              <a:rPr lang="en-US" dirty="0"/>
              <a:t>5</a:t>
            </a:r>
            <a:r>
              <a:rPr dirty="0"/>
              <a:t>. Testing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25400"/>
          </a:xfrm>
          <a:prstGeom prst="rect">
            <a:avLst/>
          </a:prstGeom>
          <a:solidFill>
            <a:srgbClr val="DC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49297"/>
            <a:ext cx="466344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dirty="0"/>
              <a:t>Test</a:t>
            </a:r>
            <a:r>
              <a:rPr lang="en-US" dirty="0"/>
              <a:t> Scenarios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User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Log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Course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Study Material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Admin 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JWT Authorization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519" y="1645920"/>
            <a:ext cx="543974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0E515D-63C0-C13C-A847-074EE2AFB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873723"/>
              </p:ext>
            </p:extLst>
          </p:nvPr>
        </p:nvGraphicFramePr>
        <p:xfrm>
          <a:off x="6501943" y="2211975"/>
          <a:ext cx="4881778" cy="325701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440889">
                  <a:extLst>
                    <a:ext uri="{9D8B030D-6E8A-4147-A177-3AD203B41FA5}">
                      <a16:colId xmlns:a16="http://schemas.microsoft.com/office/drawing/2014/main" val="213198845"/>
                    </a:ext>
                  </a:extLst>
                </a:gridCol>
                <a:gridCol w="2440889">
                  <a:extLst>
                    <a:ext uri="{9D8B030D-6E8A-4147-A177-3AD203B41FA5}">
                      <a16:colId xmlns:a16="http://schemas.microsoft.com/office/drawing/2014/main" val="1118961429"/>
                    </a:ext>
                  </a:extLst>
                </a:gridCol>
              </a:tblGrid>
              <a:tr h="542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Georgia" panose="02040502050405020303" pitchFamily="18" charset="0"/>
                        </a:rPr>
                        <a:t>Testing Type</a:t>
                      </a:r>
                      <a:endParaRPr lang="en-IN" sz="2000" b="1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Georgia" panose="02040502050405020303" pitchFamily="18" charset="0"/>
                        </a:rPr>
                        <a:t>Purpose</a:t>
                      </a:r>
                      <a:endParaRPr lang="en-IN" sz="2000" b="1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075590"/>
                  </a:ext>
                </a:extLst>
              </a:tr>
              <a:tr h="542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Testing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Individual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492305"/>
                  </a:ext>
                </a:extLst>
              </a:tr>
              <a:tr h="542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Testing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APIs with 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378122"/>
                  </a:ext>
                </a:extLst>
              </a:tr>
              <a:tr h="542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Testing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25821"/>
                  </a:ext>
                </a:extLst>
              </a:tr>
              <a:tr h="542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Authentication Testing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JWT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43993"/>
                  </a:ext>
                </a:extLst>
              </a:tr>
              <a:tr h="542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 Testing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Responsive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069619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Georgia"/>
              </a:defRPr>
            </a:pPr>
            <a:r>
              <a:rPr lang="en-US" dirty="0"/>
              <a:t>6</a:t>
            </a:r>
            <a:r>
              <a:rPr dirty="0"/>
              <a:t>. Future Extensions: Next-Gen Upgrade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25400"/>
          </a:xfrm>
          <a:prstGeom prst="rect">
            <a:avLst/>
          </a:prstGeom>
          <a:solidFill>
            <a:srgbClr val="DC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36284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69975"/>
            <a:ext cx="466344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dirty="0"/>
              <a:t>Advanced Academic Features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Live Virtual Classrooms: </a:t>
            </a:r>
            <a:r>
              <a:rPr sz="1400" dirty="0">
                <a:solidFill>
                  <a:srgbClr val="1A242B"/>
                </a:solidFill>
                <a:latin typeface="Arial"/>
              </a:rPr>
              <a:t>Integra</a:t>
            </a:r>
            <a:r>
              <a:rPr lang="en-US" sz="1400" dirty="0">
                <a:solidFill>
                  <a:srgbClr val="1A242B"/>
                </a:solidFill>
                <a:latin typeface="Arial"/>
              </a:rPr>
              <a:t>te</a:t>
            </a:r>
            <a:r>
              <a:rPr sz="1400" dirty="0">
                <a:solidFill>
                  <a:srgbClr val="1A242B"/>
                </a:solidFill>
                <a:latin typeface="Arial"/>
              </a:rPr>
              <a:t> live-chat rooms so educators can run classes directly from the platform.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Cryptographic Certifications: </a:t>
            </a:r>
            <a:r>
              <a:rPr sz="1400" dirty="0">
                <a:solidFill>
                  <a:srgbClr val="1A242B"/>
                </a:solidFill>
                <a:latin typeface="Arial"/>
              </a:rPr>
              <a:t>Issue secure, tamper-proof e-certificates of completion backed by digital signature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36284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2262253"/>
            <a:ext cx="4663440" cy="202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dirty="0"/>
              <a:t>Platform Growth &amp; Support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Mobile App Deployment: </a:t>
            </a:r>
            <a:r>
              <a:rPr sz="1400" dirty="0">
                <a:solidFill>
                  <a:srgbClr val="1A242B"/>
                </a:solidFill>
                <a:latin typeface="Arial"/>
              </a:rPr>
              <a:t>Porting current web experience to high-performance native iOS and Android modules.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 dirty="0">
                <a:solidFill>
                  <a:srgbClr val="1A242B"/>
                </a:solidFill>
                <a:latin typeface="Arial"/>
              </a:rPr>
              <a:t>Global Affiliate Ecosystem: </a:t>
            </a:r>
            <a:r>
              <a:rPr sz="1400" dirty="0">
                <a:solidFill>
                  <a:srgbClr val="1A242B"/>
                </a:solidFill>
                <a:latin typeface="Arial"/>
              </a:rPr>
              <a:t>Allow institutes to split revenue automatically, support international payments, and coordinate affiliate marketing.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242B"/>
                </a:solidFill>
                <a:latin typeface="Georgia"/>
              </a:defRPr>
            </a:pPr>
            <a:r>
              <a:rPr lang="en-US" dirty="0"/>
              <a:t>7</a:t>
            </a:r>
            <a:r>
              <a:rPr dirty="0"/>
              <a:t>. Experience &amp; Lessons Learnt: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25400"/>
          </a:xfrm>
          <a:prstGeom prst="rect">
            <a:avLst/>
          </a:prstGeom>
          <a:solidFill>
            <a:srgbClr val="DC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7448" y="1828800"/>
            <a:ext cx="466344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lang="en-US" dirty="0"/>
              <a:t>Technical</a:t>
            </a:r>
            <a:r>
              <a:rPr dirty="0"/>
              <a:t> Growth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Full-Stack Development</a:t>
            </a:r>
            <a:r>
              <a:rPr sz="1400" b="1" dirty="0">
                <a:solidFill>
                  <a:srgbClr val="1A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Enhanced practical knowledge of React JS, Spring Boot, ASP.NET Core, REST APIs, Gen-AI and MySQL by developing a complete multi-institute course management platform.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Secure Application Development: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Learned the importance of JWT Authentication, role-based authorization, and secure API design to protect users and platform resources.</a:t>
            </a:r>
            <a:endParaRPr lang="en-US" sz="1600" b="1" dirty="0">
              <a:solidFill>
                <a:srgbClr val="1A24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1A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System Design</a:t>
            </a:r>
            <a:r>
              <a:rPr sz="1400" b="1" dirty="0">
                <a:solidFill>
                  <a:srgbClr val="1A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Gained experience in designing a modular architecture, separating frontend, backend services, and database for better scalability and maintainability.</a:t>
            </a:r>
            <a:endParaRPr sz="1400" dirty="0">
              <a:solidFill>
                <a:srgbClr val="1A24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920895"/>
            <a:ext cx="466344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242B"/>
                </a:solidFill>
                <a:latin typeface="Georgia"/>
              </a:defRPr>
            </a:pPr>
            <a:r>
              <a:rPr dirty="0"/>
              <a:t>Operational &amp; Product Insights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Collaboration &amp; Planning:</a:t>
            </a:r>
            <a:r>
              <a:rPr lang="en-IN" sz="1400" dirty="0"/>
              <a:t>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Improved teamwork, requirement analysis, project planning, and task coordination throughout the development lifecycle.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Debugging &amp; Testing:</a:t>
            </a:r>
            <a:r>
              <a:rPr lang="en-IN" sz="1400" dirty="0"/>
              <a:t>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Strengthened debugging skills through unit testing, integration testing, bug fixing, and API validation.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Continuous Improvement</a:t>
            </a:r>
            <a:r>
              <a:rPr sz="1400" b="1" dirty="0">
                <a:solidFill>
                  <a:srgbClr val="1A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Recognized the importance of iterative development, user feedback, and performance optimization in delivering a reliable application.</a:t>
            </a:r>
            <a:endParaRPr sz="1400" dirty="0">
              <a:solidFill>
                <a:srgbClr val="1A24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4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C061B-8368-E579-68DB-A0857E79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EC714F-B8DE-DD39-6648-17456F460FDF}"/>
              </a:ext>
            </a:extLst>
          </p:cNvPr>
          <p:cNvSpPr txBox="1"/>
          <p:nvPr/>
        </p:nvSpPr>
        <p:spPr>
          <a:xfrm>
            <a:off x="914399" y="2011680"/>
            <a:ext cx="89293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5600" b="1">
                <a:solidFill>
                  <a:srgbClr val="F8F6F0"/>
                </a:solidFill>
                <a:latin typeface="Georgia"/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8F6F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Thankyou !!!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F8F6F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CA625-562B-62D5-58F1-2CD8433D289D}"/>
              </a:ext>
            </a:extLst>
          </p:cNvPr>
          <p:cNvSpPr/>
          <p:nvPr/>
        </p:nvSpPr>
        <p:spPr>
          <a:xfrm>
            <a:off x="989047" y="3565387"/>
            <a:ext cx="3657600" cy="38100"/>
          </a:xfrm>
          <a:prstGeom prst="rect">
            <a:avLst/>
          </a:prstGeom>
          <a:solidFill>
            <a:srgbClr val="C27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963D0D-BBDD-19DA-51CD-5DE83989B668}"/>
              </a:ext>
            </a:extLst>
          </p:cNvPr>
          <p:cNvSpPr txBox="1"/>
          <p:nvPr/>
        </p:nvSpPr>
        <p:spPr>
          <a:xfrm>
            <a:off x="989047" y="4254753"/>
            <a:ext cx="16193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6C757D"/>
                </a:solidFill>
                <a:latin typeface="Arial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 : Group 06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6C75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419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720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Bhorde</cp:lastModifiedBy>
  <cp:revision>11</cp:revision>
  <dcterms:created xsi:type="dcterms:W3CDTF">2013-01-27T09:14:16Z</dcterms:created>
  <dcterms:modified xsi:type="dcterms:W3CDTF">2026-08-05T19:45:26Z</dcterms:modified>
  <cp:category/>
</cp:coreProperties>
</file>